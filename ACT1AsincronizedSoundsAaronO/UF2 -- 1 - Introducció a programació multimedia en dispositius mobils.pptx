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Barlow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jemmuLOAaP6XoghxKftdX1JsqS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8ED5D5-80C0-485C-92B8-64F319B529E4}">
  <a:tblStyle styleId="{488ED5D5-80C0-485C-92B8-64F319B529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arlowLight-italic.fntdata"/><Relationship Id="rId30" Type="http://schemas.openxmlformats.org/officeDocument/2006/relationships/font" Target="fonts/BarlowLight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Barlow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946b1c880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2946b1c8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946b1c880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2946b1c88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946b1c880_0_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2946b1c88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29483f8a0c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29483f8a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9483f8a0c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29483f8a0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9483f8a0c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29483f8a0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9483f8a0c_0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29483f8a0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9483f8a0c_0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29483f8a0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9483f8a0c_0_4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29483f8a0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9483f8a0c_0_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29483f8a0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29483f8a0c_0_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29483f8a0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9483f8a0c_0_10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29483f8a0c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29483f8a0c_0_1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29483f8a0c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6e2de1390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36e2de13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8dea79fc9_0_125"/>
          <p:cNvSpPr txBox="1"/>
          <p:nvPr>
            <p:ph type="ctrTitle"/>
          </p:nvPr>
        </p:nvSpPr>
        <p:spPr>
          <a:xfrm>
            <a:off x="855300" y="1363125"/>
            <a:ext cx="5110800" cy="24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11" name="Google Shape;11;g308dea79fc9_0_125"/>
          <p:cNvGrpSpPr/>
          <p:nvPr/>
        </p:nvGrpSpPr>
        <p:grpSpPr>
          <a:xfrm>
            <a:off x="0" y="2550906"/>
            <a:ext cx="719125" cy="41700"/>
            <a:chOff x="0" y="2550906"/>
            <a:chExt cx="719125" cy="41700"/>
          </a:xfrm>
        </p:grpSpPr>
        <p:sp>
          <p:nvSpPr>
            <p:cNvPr id="12" name="Google Shape;12;g308dea79fc9_0_125"/>
            <p:cNvSpPr/>
            <p:nvPr/>
          </p:nvSpPr>
          <p:spPr>
            <a:xfrm>
              <a:off x="0" y="2550906"/>
              <a:ext cx="509100" cy="41700"/>
            </a:xfrm>
            <a:prstGeom prst="rect">
              <a:avLst/>
            </a:prstGeom>
            <a:gradFill>
              <a:gsLst>
                <a:gs pos="0">
                  <a:srgbClr val="FFFFFF">
                    <a:alpha val="27843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08dea79fc9_0_125"/>
            <p:cNvSpPr/>
            <p:nvPr/>
          </p:nvSpPr>
          <p:spPr>
            <a:xfrm>
              <a:off x="506425" y="2550906"/>
              <a:ext cx="212700" cy="41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g308dea79fc9_0_3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16" name="Google Shape;16;g308dea79fc9_0_3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g308dea79fc9_0_3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" name="Google Shape;18;g308dea79fc9_0_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" name="Google Shape;19;g308dea79fc9_0_3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" name="Google Shape;20;g308dea79fc9_0_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08dea79fc9_0_4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3" name="Google Shape;23;g308dea79fc9_0_4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g308dea79fc9_0_4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g308dea79fc9_0_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g308dea79fc9_0_43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7" name="Google Shape;27;g308dea79fc9_0_43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8" name="Google Shape;28;g308dea79fc9_0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g308dea79fc9_0_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31" name="Google Shape;31;g308dea79fc9_0_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08dea79fc9_0_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08dea79fc9_0_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g308dea79fc9_0_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g308dea79fc9_0_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g308dea79fc9_0_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g308dea79fc9_0_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g308dea79fc9_0_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g308dea79fc9_0_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g308dea79fc9_0_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308dea79fc9_0_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308dea79fc9_0_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308dea79fc9_0_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08dea79fc9_0_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g308dea79fc9_0_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g308dea79fc9_0_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g308dea79fc9_0_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g308dea79fc9_0_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g308dea79fc9_0_1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g308dea79fc9_0_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8dea79fc9_0_4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1568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g308dea79fc9_0_4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54" name="Google Shape;54;g308dea79fc9_0_4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g308dea79fc9_0_4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g308dea79fc9_0_4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g308dea79fc9_0_4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" name="Google Shape;58;g308dea79fc9_0_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59" name="Google Shape;59;g308dea79fc9_0_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0" name="Google Shape;60;g308dea79fc9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g308dea79fc9_0_51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3" name="Google Shape;63;g308dea79fc9_0_5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g308dea79fc9_0_5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65;g308dea79fc9_0_5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" name="Google Shape;66;g308dea79fc9_0_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g308dea79fc9_0_5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9" name="Google Shape;69;g308dea79fc9_0_5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308dea79fc9_0_5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g308dea79fc9_0_5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g308dea79fc9_0_5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g308dea79fc9_0_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g308dea79fc9_0_64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g308dea79fc9_0_64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g308dea79fc9_0_64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08dea79fc9_0_64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g308dea79fc9_0_64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g308dea79fc9_0_64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08dea79fc9_0_64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08dea79fc9_0_64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308dea79fc9_0_64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08dea79fc9_0_64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308dea79fc9_0_64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308dea79fc9_0_64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g308dea79fc9_0_64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308dea79fc9_0_64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g308dea79fc9_0_64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308dea79fc9_0_64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308dea79fc9_0_64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308dea79fc9_0_64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308dea79fc9_0_64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g308dea79fc9_0_64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g308dea79fc9_0_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g308dea79fc9_0_8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8" name="Google Shape;98;g308dea79fc9_0_8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08dea79fc9_0_8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g308dea79fc9_0_86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1" name="Google Shape;101;g308dea79fc9_0_86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2" name="Google Shape;102;g308dea79fc9_0_86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3" name="Google Shape;103;g308dea79fc9_0_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g308dea79fc9_0_94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6" name="Google Shape;106;g308dea79fc9_0_94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08dea79fc9_0_94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g308dea79fc9_0_94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9" name="Google Shape;109;g308dea79fc9_0_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g308dea79fc9_0_100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2" name="Google Shape;112;g308dea79fc9_0_100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08dea79fc9_0_100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08dea79fc9_0_100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08dea79fc9_0_100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08dea79fc9_0_100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08dea79fc9_0_100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08dea79fc9_0_100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08dea79fc9_0_100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g308dea79fc9_0_100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08dea79fc9_0_100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08dea79fc9_0_100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08dea79fc9_0_100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g308dea79fc9_0_100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g308dea79fc9_0_100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g308dea79fc9_0_100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g308dea79fc9_0_100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g308dea79fc9_0_100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g308dea79fc9_0_100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g308dea79fc9_0_100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1" name="Google Shape;131;g308dea79fc9_0_100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2" name="Google Shape;132;g308dea79fc9_0_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8dea79fc9_0_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08dea79fc9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308dea79fc9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08dea79fc9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"/>
          <p:cNvSpPr txBox="1"/>
          <p:nvPr/>
        </p:nvSpPr>
        <p:spPr>
          <a:xfrm>
            <a:off x="824800" y="4390000"/>
            <a:ext cx="53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40" name="Google Shape;140;p1"/>
          <p:cNvSpPr txBox="1"/>
          <p:nvPr>
            <p:ph type="ctrTitle"/>
          </p:nvPr>
        </p:nvSpPr>
        <p:spPr>
          <a:xfrm>
            <a:off x="728375" y="1788500"/>
            <a:ext cx="3949500" cy="24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ca" sz="2200">
                <a:solidFill>
                  <a:schemeClr val="accent1"/>
                </a:solidFill>
              </a:rPr>
              <a:t>Introducció a programació multimedia en dispositius mobils</a:t>
            </a:r>
            <a:endParaRPr sz="22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ca" sz="2400"/>
              <a:t>Aplicacions mòbils</a:t>
            </a:r>
            <a:endParaRPr sz="2400">
              <a:solidFill>
                <a:schemeClr val="lt2"/>
              </a:solidFill>
            </a:endParaRPr>
          </a:p>
        </p:txBody>
      </p:sp>
      <p:grpSp>
        <p:nvGrpSpPr>
          <p:cNvPr id="141" name="Google Shape;141;p1"/>
          <p:cNvGrpSpPr/>
          <p:nvPr/>
        </p:nvGrpSpPr>
        <p:grpSpPr>
          <a:xfrm>
            <a:off x="4677766" y="566396"/>
            <a:ext cx="3882547" cy="4010683"/>
            <a:chOff x="1012950" y="3289810"/>
            <a:chExt cx="452332" cy="685013"/>
          </a:xfrm>
        </p:grpSpPr>
        <p:sp>
          <p:nvSpPr>
            <p:cNvPr id="142" name="Google Shape;142;p1"/>
            <p:cNvSpPr/>
            <p:nvPr/>
          </p:nvSpPr>
          <p:spPr>
            <a:xfrm>
              <a:off x="1210074" y="3312647"/>
              <a:ext cx="60004" cy="257813"/>
            </a:xfrm>
            <a:custGeom>
              <a:rect b="b" l="l" r="r" t="t"/>
              <a:pathLst>
                <a:path extrusionOk="0" h="2578130" w="600042">
                  <a:moveTo>
                    <a:pt x="599390" y="1732788"/>
                  </a:moveTo>
                  <a:cubicBezTo>
                    <a:pt x="543891" y="1700784"/>
                    <a:pt x="504062" y="1700131"/>
                    <a:pt x="479904" y="1730176"/>
                  </a:cubicBezTo>
                  <a:cubicBezTo>
                    <a:pt x="455092" y="1760220"/>
                    <a:pt x="443339" y="1811165"/>
                    <a:pt x="443339" y="1882358"/>
                  </a:cubicBezTo>
                  <a:lnTo>
                    <a:pt x="443339" y="2267712"/>
                  </a:lnTo>
                  <a:cubicBezTo>
                    <a:pt x="443339" y="2340864"/>
                    <a:pt x="436810" y="2401606"/>
                    <a:pt x="423099" y="2449939"/>
                  </a:cubicBezTo>
                  <a:cubicBezTo>
                    <a:pt x="409387" y="2500231"/>
                    <a:pt x="386535" y="2535501"/>
                    <a:pt x="355194" y="2556401"/>
                  </a:cubicBezTo>
                  <a:cubicBezTo>
                    <a:pt x="324506" y="2577955"/>
                    <a:pt x="282719" y="2583180"/>
                    <a:pt x="229831" y="2573383"/>
                  </a:cubicBezTo>
                  <a:cubicBezTo>
                    <a:pt x="178250" y="2564239"/>
                    <a:pt x="113610" y="2536807"/>
                    <a:pt x="36564" y="2492393"/>
                  </a:cubicBezTo>
                  <a:lnTo>
                    <a:pt x="0" y="2470840"/>
                  </a:lnTo>
                  <a:lnTo>
                    <a:pt x="0" y="2167128"/>
                  </a:lnTo>
                  <a:lnTo>
                    <a:pt x="46358" y="2193907"/>
                  </a:lnTo>
                  <a:cubicBezTo>
                    <a:pt x="101857" y="2225911"/>
                    <a:pt x="138421" y="2229830"/>
                    <a:pt x="156703" y="2206970"/>
                  </a:cubicBezTo>
                  <a:cubicBezTo>
                    <a:pt x="176291" y="2184110"/>
                    <a:pt x="186085" y="2137084"/>
                    <a:pt x="186085" y="2065891"/>
                  </a:cubicBezTo>
                  <a:lnTo>
                    <a:pt x="186085" y="1726257"/>
                  </a:lnTo>
                  <a:cubicBezTo>
                    <a:pt x="186085" y="1637429"/>
                    <a:pt x="194573" y="1567543"/>
                    <a:pt x="212202" y="1516598"/>
                  </a:cubicBezTo>
                  <a:cubicBezTo>
                    <a:pt x="229178" y="1465000"/>
                    <a:pt x="263784" y="1432342"/>
                    <a:pt x="315365" y="1417973"/>
                  </a:cubicBezTo>
                  <a:cubicBezTo>
                    <a:pt x="263784" y="1344168"/>
                    <a:pt x="229178" y="1271016"/>
                    <a:pt x="212202" y="1199823"/>
                  </a:cubicBezTo>
                  <a:cubicBezTo>
                    <a:pt x="195226" y="1128631"/>
                    <a:pt x="186738" y="1048947"/>
                    <a:pt x="186738" y="960120"/>
                  </a:cubicBezTo>
                  <a:lnTo>
                    <a:pt x="186738" y="620486"/>
                  </a:lnTo>
                  <a:cubicBezTo>
                    <a:pt x="186738" y="549293"/>
                    <a:pt x="176944" y="490510"/>
                    <a:pt x="157356" y="445443"/>
                  </a:cubicBezTo>
                  <a:cubicBezTo>
                    <a:pt x="139074" y="401030"/>
                    <a:pt x="101857" y="362494"/>
                    <a:pt x="47011" y="330490"/>
                  </a:cubicBezTo>
                  <a:lnTo>
                    <a:pt x="653" y="303711"/>
                  </a:lnTo>
                  <a:lnTo>
                    <a:pt x="653" y="0"/>
                  </a:lnTo>
                  <a:lnTo>
                    <a:pt x="37217" y="21554"/>
                  </a:lnTo>
                  <a:cubicBezTo>
                    <a:pt x="114263" y="65967"/>
                    <a:pt x="178903" y="113647"/>
                    <a:pt x="230484" y="163939"/>
                  </a:cubicBezTo>
                  <a:cubicBezTo>
                    <a:pt x="283372" y="214884"/>
                    <a:pt x="325159" y="268442"/>
                    <a:pt x="355847" y="325918"/>
                  </a:cubicBezTo>
                  <a:cubicBezTo>
                    <a:pt x="387840" y="383395"/>
                    <a:pt x="410693" y="444790"/>
                    <a:pt x="423752" y="510758"/>
                  </a:cubicBezTo>
                  <a:cubicBezTo>
                    <a:pt x="437463" y="574766"/>
                    <a:pt x="443992" y="643346"/>
                    <a:pt x="443992" y="716498"/>
                  </a:cubicBezTo>
                  <a:lnTo>
                    <a:pt x="443992" y="1101852"/>
                  </a:lnTo>
                  <a:cubicBezTo>
                    <a:pt x="443992" y="1173045"/>
                    <a:pt x="456398" y="1238359"/>
                    <a:pt x="480557" y="1296489"/>
                  </a:cubicBezTo>
                  <a:cubicBezTo>
                    <a:pt x="505368" y="1354618"/>
                    <a:pt x="545197" y="1400338"/>
                    <a:pt x="600043" y="1431689"/>
                  </a:cubicBezTo>
                  <a:lnTo>
                    <a:pt x="599390" y="173278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7843"/>
                  </a:srgbClr>
                </a:gs>
                <a:gs pos="100000">
                  <a:srgbClr val="FFFFFF">
                    <a:alpha val="27843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130391" y="3289810"/>
              <a:ext cx="60004" cy="257967"/>
            </a:xfrm>
            <a:custGeom>
              <a:rect b="b" l="l" r="r" t="t"/>
              <a:pathLst>
                <a:path extrusionOk="0" h="2579665" w="600042">
                  <a:moveTo>
                    <a:pt x="0" y="845571"/>
                  </a:moveTo>
                  <a:cubicBezTo>
                    <a:pt x="55499" y="877575"/>
                    <a:pt x="95328" y="878228"/>
                    <a:pt x="119486" y="848184"/>
                  </a:cubicBezTo>
                  <a:cubicBezTo>
                    <a:pt x="144297" y="818139"/>
                    <a:pt x="156050" y="767194"/>
                    <a:pt x="156050" y="696001"/>
                  </a:cubicBezTo>
                  <a:lnTo>
                    <a:pt x="156050" y="310647"/>
                  </a:lnTo>
                  <a:cubicBezTo>
                    <a:pt x="156050" y="237495"/>
                    <a:pt x="162580" y="176753"/>
                    <a:pt x="176291" y="128420"/>
                  </a:cubicBezTo>
                  <a:cubicBezTo>
                    <a:pt x="190003" y="78128"/>
                    <a:pt x="212202" y="42858"/>
                    <a:pt x="242890" y="21305"/>
                  </a:cubicBezTo>
                  <a:cubicBezTo>
                    <a:pt x="274883" y="404"/>
                    <a:pt x="316671" y="-4821"/>
                    <a:pt x="368252" y="4323"/>
                  </a:cubicBezTo>
                  <a:cubicBezTo>
                    <a:pt x="421140" y="14120"/>
                    <a:pt x="486433" y="41552"/>
                    <a:pt x="563479" y="86619"/>
                  </a:cubicBezTo>
                  <a:lnTo>
                    <a:pt x="600043" y="108173"/>
                  </a:lnTo>
                  <a:lnTo>
                    <a:pt x="600043" y="411884"/>
                  </a:lnTo>
                  <a:lnTo>
                    <a:pt x="553685" y="385105"/>
                  </a:lnTo>
                  <a:cubicBezTo>
                    <a:pt x="498186" y="353101"/>
                    <a:pt x="460969" y="348529"/>
                    <a:pt x="441381" y="371389"/>
                  </a:cubicBezTo>
                  <a:cubicBezTo>
                    <a:pt x="423099" y="394902"/>
                    <a:pt x="413958" y="441929"/>
                    <a:pt x="413958" y="513774"/>
                  </a:cubicBezTo>
                  <a:lnTo>
                    <a:pt x="413958" y="853409"/>
                  </a:lnTo>
                  <a:cubicBezTo>
                    <a:pt x="413958" y="941583"/>
                    <a:pt x="405469" y="1012122"/>
                    <a:pt x="387840" y="1063068"/>
                  </a:cubicBezTo>
                  <a:cubicBezTo>
                    <a:pt x="370864" y="1114666"/>
                    <a:pt x="336259" y="1147323"/>
                    <a:pt x="284677" y="1161692"/>
                  </a:cubicBezTo>
                  <a:cubicBezTo>
                    <a:pt x="336259" y="1235497"/>
                    <a:pt x="370864" y="1308649"/>
                    <a:pt x="387840" y="1379842"/>
                  </a:cubicBezTo>
                  <a:cubicBezTo>
                    <a:pt x="404817" y="1451034"/>
                    <a:pt x="413305" y="1530718"/>
                    <a:pt x="413305" y="1619545"/>
                  </a:cubicBezTo>
                  <a:lnTo>
                    <a:pt x="413305" y="1959180"/>
                  </a:lnTo>
                  <a:cubicBezTo>
                    <a:pt x="413305" y="2030372"/>
                    <a:pt x="422446" y="2088502"/>
                    <a:pt x="440728" y="2133569"/>
                  </a:cubicBezTo>
                  <a:cubicBezTo>
                    <a:pt x="460316" y="2178636"/>
                    <a:pt x="497533" y="2217824"/>
                    <a:pt x="553032" y="2249175"/>
                  </a:cubicBezTo>
                  <a:lnTo>
                    <a:pt x="599390" y="2275954"/>
                  </a:lnTo>
                  <a:lnTo>
                    <a:pt x="599390" y="2579665"/>
                  </a:lnTo>
                  <a:lnTo>
                    <a:pt x="562826" y="2558112"/>
                  </a:lnTo>
                  <a:cubicBezTo>
                    <a:pt x="485780" y="2513698"/>
                    <a:pt x="420487" y="2465365"/>
                    <a:pt x="367600" y="2415073"/>
                  </a:cubicBezTo>
                  <a:cubicBezTo>
                    <a:pt x="316018" y="2364781"/>
                    <a:pt x="274231" y="2311224"/>
                    <a:pt x="242237" y="2253094"/>
                  </a:cubicBezTo>
                  <a:cubicBezTo>
                    <a:pt x="211549" y="2196271"/>
                    <a:pt x="189350" y="2134875"/>
                    <a:pt x="176291" y="2069561"/>
                  </a:cubicBezTo>
                  <a:cubicBezTo>
                    <a:pt x="162580" y="2005553"/>
                    <a:pt x="156050" y="1936973"/>
                    <a:pt x="156050" y="1863821"/>
                  </a:cubicBezTo>
                  <a:lnTo>
                    <a:pt x="156050" y="1478467"/>
                  </a:lnTo>
                  <a:cubicBezTo>
                    <a:pt x="156050" y="1407274"/>
                    <a:pt x="143645" y="1341960"/>
                    <a:pt x="119486" y="1283830"/>
                  </a:cubicBezTo>
                  <a:cubicBezTo>
                    <a:pt x="94675" y="1225700"/>
                    <a:pt x="54846" y="1179980"/>
                    <a:pt x="0" y="1148629"/>
                  </a:cubicBezTo>
                  <a:lnTo>
                    <a:pt x="0" y="84557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7843"/>
                  </a:srgbClr>
                </a:gs>
                <a:gs pos="100000">
                  <a:srgbClr val="FFFFFF">
                    <a:alpha val="27843"/>
                  </a:srgbClr>
                </a:gs>
              </a:gsLst>
              <a:lin ang="6600474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88586" y="3298188"/>
              <a:ext cx="137899" cy="410174"/>
            </a:xfrm>
            <a:custGeom>
              <a:rect b="b" l="l" r="r" t="t"/>
              <a:pathLst>
                <a:path extrusionOk="0" h="4101736" w="1378987">
                  <a:moveTo>
                    <a:pt x="653" y="0"/>
                  </a:moveTo>
                  <a:lnTo>
                    <a:pt x="1378988" y="796181"/>
                  </a:lnTo>
                  <a:lnTo>
                    <a:pt x="1378335" y="4101737"/>
                  </a:lnTo>
                  <a:lnTo>
                    <a:pt x="0" y="3306209"/>
                  </a:lnTo>
                  <a:lnTo>
                    <a:pt x="653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7843"/>
                  </a:srgbClr>
                </a:gs>
                <a:gs pos="100000">
                  <a:srgbClr val="FFFFFF">
                    <a:alpha val="27843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262806" y="3341370"/>
              <a:ext cx="109692" cy="93661"/>
            </a:xfrm>
            <a:custGeom>
              <a:rect b="b" l="l" r="r" t="t"/>
              <a:pathLst>
                <a:path extrusionOk="0" h="936606" w="1096922">
                  <a:moveTo>
                    <a:pt x="0" y="0"/>
                  </a:moveTo>
                  <a:lnTo>
                    <a:pt x="1096922" y="632895"/>
                  </a:lnTo>
                  <a:lnTo>
                    <a:pt x="1096922" y="936607"/>
                  </a:lnTo>
                  <a:lnTo>
                    <a:pt x="0" y="303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306554" y="3481600"/>
              <a:ext cx="103946" cy="151921"/>
            </a:xfrm>
            <a:custGeom>
              <a:rect b="b" l="l" r="r" t="t"/>
              <a:pathLst>
                <a:path extrusionOk="0" h="1519210" w="1039464">
                  <a:moveTo>
                    <a:pt x="0" y="0"/>
                  </a:moveTo>
                  <a:lnTo>
                    <a:pt x="1039465" y="600238"/>
                  </a:lnTo>
                  <a:lnTo>
                    <a:pt x="1039465" y="1519210"/>
                  </a:lnTo>
                  <a:lnTo>
                    <a:pt x="0" y="9189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305512" y="3411322"/>
              <a:ext cx="105513" cy="71323"/>
            </a:xfrm>
            <a:custGeom>
              <a:rect b="b" l="l" r="r" t="t"/>
              <a:pathLst>
                <a:path extrusionOk="0" h="713231" w="1055134">
                  <a:moveTo>
                    <a:pt x="0" y="0"/>
                  </a:moveTo>
                  <a:lnTo>
                    <a:pt x="1055135" y="609382"/>
                  </a:lnTo>
                  <a:lnTo>
                    <a:pt x="1055135" y="713232"/>
                  </a:lnTo>
                  <a:lnTo>
                    <a:pt x="0" y="103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1305512" y="3432165"/>
              <a:ext cx="91214" cy="63028"/>
            </a:xfrm>
            <a:custGeom>
              <a:rect b="b" l="l" r="r" t="t"/>
              <a:pathLst>
                <a:path extrusionOk="0" h="630282" w="912143">
                  <a:moveTo>
                    <a:pt x="0" y="0"/>
                  </a:moveTo>
                  <a:lnTo>
                    <a:pt x="912143" y="526433"/>
                  </a:lnTo>
                  <a:lnTo>
                    <a:pt x="912143" y="630283"/>
                  </a:lnTo>
                  <a:lnTo>
                    <a:pt x="0" y="103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1305512" y="3452746"/>
              <a:ext cx="77437" cy="55060"/>
            </a:xfrm>
            <a:custGeom>
              <a:rect b="b" l="l" r="r" t="t"/>
              <a:pathLst>
                <a:path extrusionOk="0" h="550599" w="774374">
                  <a:moveTo>
                    <a:pt x="0" y="0"/>
                  </a:moveTo>
                  <a:lnTo>
                    <a:pt x="774375" y="446750"/>
                  </a:lnTo>
                  <a:lnTo>
                    <a:pt x="774375" y="550600"/>
                  </a:lnTo>
                  <a:lnTo>
                    <a:pt x="0" y="103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1288586" y="3298188"/>
              <a:ext cx="137899" cy="123901"/>
            </a:xfrm>
            <a:custGeom>
              <a:rect b="b" l="l" r="r" t="t"/>
              <a:pathLst>
                <a:path extrusionOk="0" h="1239012" w="1378987">
                  <a:moveTo>
                    <a:pt x="653" y="0"/>
                  </a:moveTo>
                  <a:lnTo>
                    <a:pt x="1378988" y="796181"/>
                  </a:lnTo>
                  <a:lnTo>
                    <a:pt x="1378988" y="1239012"/>
                  </a:lnTo>
                  <a:lnTo>
                    <a:pt x="0" y="443484"/>
                  </a:lnTo>
                  <a:lnTo>
                    <a:pt x="653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1305512" y="3322238"/>
              <a:ext cx="17499" cy="26289"/>
            </a:xfrm>
            <a:custGeom>
              <a:rect b="b" l="l" r="r" t="t"/>
              <a:pathLst>
                <a:path extrusionOk="0" h="262890" w="174985">
                  <a:moveTo>
                    <a:pt x="174985" y="182064"/>
                  </a:moveTo>
                  <a:cubicBezTo>
                    <a:pt x="174985" y="249338"/>
                    <a:pt x="135809" y="280689"/>
                    <a:pt x="87493" y="252603"/>
                  </a:cubicBezTo>
                  <a:cubicBezTo>
                    <a:pt x="39176" y="224518"/>
                    <a:pt x="0" y="148101"/>
                    <a:pt x="0" y="80827"/>
                  </a:cubicBezTo>
                  <a:cubicBezTo>
                    <a:pt x="0" y="13553"/>
                    <a:pt x="39176" y="-17798"/>
                    <a:pt x="87493" y="10287"/>
                  </a:cubicBezTo>
                  <a:cubicBezTo>
                    <a:pt x="135809" y="38373"/>
                    <a:pt x="174985" y="115443"/>
                    <a:pt x="174985" y="182064"/>
                  </a:cubicBez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1040943" y="3399143"/>
              <a:ext cx="424339" cy="575680"/>
            </a:xfrm>
            <a:custGeom>
              <a:rect b="b" l="l" r="r" t="t"/>
              <a:pathLst>
                <a:path extrusionOk="0" h="5756801" w="4243391">
                  <a:moveTo>
                    <a:pt x="653" y="0"/>
                  </a:moveTo>
                  <a:lnTo>
                    <a:pt x="4243392" y="2449286"/>
                  </a:lnTo>
                  <a:lnTo>
                    <a:pt x="4242739" y="5756801"/>
                  </a:lnTo>
                  <a:lnTo>
                    <a:pt x="0" y="3307516"/>
                  </a:lnTo>
                  <a:lnTo>
                    <a:pt x="653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7843"/>
                  </a:srgbClr>
                </a:gs>
                <a:gs pos="100000">
                  <a:srgbClr val="FFFFFF">
                    <a:alpha val="27843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1012950" y="3480428"/>
              <a:ext cx="109627" cy="93661"/>
            </a:xfrm>
            <a:custGeom>
              <a:rect b="b" l="l" r="r" t="t"/>
              <a:pathLst>
                <a:path extrusionOk="0" h="936606" w="1096269">
                  <a:moveTo>
                    <a:pt x="0" y="0"/>
                  </a:moveTo>
                  <a:lnTo>
                    <a:pt x="1096270" y="632895"/>
                  </a:lnTo>
                  <a:lnTo>
                    <a:pt x="1096270" y="936607"/>
                  </a:lnTo>
                  <a:lnTo>
                    <a:pt x="0" y="304365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1069522" y="3563667"/>
              <a:ext cx="243412" cy="150941"/>
            </a:xfrm>
            <a:custGeom>
              <a:rect b="b" l="l" r="r" t="t"/>
              <a:pathLst>
                <a:path extrusionOk="0" h="1509412" w="2434122">
                  <a:moveTo>
                    <a:pt x="0" y="0"/>
                  </a:moveTo>
                  <a:lnTo>
                    <a:pt x="2434123" y="1405564"/>
                  </a:lnTo>
                  <a:lnTo>
                    <a:pt x="2434123" y="1509413"/>
                  </a:lnTo>
                  <a:lnTo>
                    <a:pt x="0" y="103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1069522" y="3584509"/>
              <a:ext cx="209982" cy="131608"/>
            </a:xfrm>
            <a:custGeom>
              <a:rect b="b" l="l" r="r" t="t"/>
              <a:pathLst>
                <a:path extrusionOk="0" h="1316082" w="2099822">
                  <a:moveTo>
                    <a:pt x="0" y="0"/>
                  </a:moveTo>
                  <a:lnTo>
                    <a:pt x="2099823" y="1212233"/>
                  </a:lnTo>
                  <a:lnTo>
                    <a:pt x="2099823" y="1316083"/>
                  </a:lnTo>
                  <a:lnTo>
                    <a:pt x="0" y="103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1069522" y="3605156"/>
              <a:ext cx="178707" cy="113582"/>
            </a:xfrm>
            <a:custGeom>
              <a:rect b="b" l="l" r="r" t="t"/>
              <a:pathLst>
                <a:path extrusionOk="0" h="1135815" w="1787069">
                  <a:moveTo>
                    <a:pt x="0" y="0"/>
                  </a:moveTo>
                  <a:lnTo>
                    <a:pt x="1787069" y="1031966"/>
                  </a:lnTo>
                  <a:lnTo>
                    <a:pt x="1787069" y="1135815"/>
                  </a:lnTo>
                  <a:lnTo>
                    <a:pt x="0" y="103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1233315" y="3736463"/>
              <a:ext cx="214030" cy="215472"/>
            </a:xfrm>
            <a:custGeom>
              <a:rect b="b" l="l" r="r" t="t"/>
              <a:pathLst>
                <a:path extrusionOk="0" h="2154718" w="2140304">
                  <a:moveTo>
                    <a:pt x="0" y="0"/>
                  </a:moveTo>
                  <a:lnTo>
                    <a:pt x="2140304" y="1235746"/>
                  </a:lnTo>
                  <a:lnTo>
                    <a:pt x="2140304" y="2154719"/>
                  </a:lnTo>
                  <a:lnTo>
                    <a:pt x="0" y="91897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7843"/>
                  </a:srgbClr>
                </a:gs>
                <a:gs pos="100000">
                  <a:srgbClr val="FFFFFF">
                    <a:alpha val="27843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1249395" y="3763883"/>
              <a:ext cx="32255" cy="48986"/>
            </a:xfrm>
            <a:custGeom>
              <a:rect b="b" l="l" r="r" t="t"/>
              <a:pathLst>
                <a:path extrusionOk="0" h="489857" w="322547">
                  <a:moveTo>
                    <a:pt x="0" y="0"/>
                  </a:moveTo>
                  <a:lnTo>
                    <a:pt x="322547" y="186146"/>
                  </a:lnTo>
                  <a:lnTo>
                    <a:pt x="322547" y="489857"/>
                  </a:lnTo>
                  <a:lnTo>
                    <a:pt x="0" y="303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1288781" y="3788113"/>
              <a:ext cx="32255" cy="48986"/>
            </a:xfrm>
            <a:custGeom>
              <a:rect b="b" l="l" r="r" t="t"/>
              <a:pathLst>
                <a:path extrusionOk="0" h="489857" w="322547">
                  <a:moveTo>
                    <a:pt x="0" y="0"/>
                  </a:moveTo>
                  <a:lnTo>
                    <a:pt x="322547" y="186146"/>
                  </a:lnTo>
                  <a:lnTo>
                    <a:pt x="322547" y="489857"/>
                  </a:lnTo>
                  <a:lnTo>
                    <a:pt x="0" y="303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1328362" y="3810583"/>
              <a:ext cx="32255" cy="48986"/>
            </a:xfrm>
            <a:custGeom>
              <a:rect b="b" l="l" r="r" t="t"/>
              <a:pathLst>
                <a:path extrusionOk="0" h="489857" w="322547">
                  <a:moveTo>
                    <a:pt x="0" y="0"/>
                  </a:moveTo>
                  <a:lnTo>
                    <a:pt x="322547" y="186146"/>
                  </a:lnTo>
                  <a:lnTo>
                    <a:pt x="322547" y="489857"/>
                  </a:lnTo>
                  <a:lnTo>
                    <a:pt x="0" y="303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1367943" y="3834487"/>
              <a:ext cx="32255" cy="48986"/>
            </a:xfrm>
            <a:custGeom>
              <a:rect b="b" l="l" r="r" t="t"/>
              <a:pathLst>
                <a:path extrusionOk="0" h="489857" w="322547">
                  <a:moveTo>
                    <a:pt x="0" y="0"/>
                  </a:moveTo>
                  <a:lnTo>
                    <a:pt x="322548" y="186146"/>
                  </a:lnTo>
                  <a:lnTo>
                    <a:pt x="322548" y="489857"/>
                  </a:lnTo>
                  <a:lnTo>
                    <a:pt x="0" y="303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1029811" y="3615447"/>
              <a:ext cx="178184" cy="194767"/>
            </a:xfrm>
            <a:custGeom>
              <a:rect b="b" l="l" r="r" t="t"/>
              <a:pathLst>
                <a:path extrusionOk="0" h="1947672" w="1781845">
                  <a:moveTo>
                    <a:pt x="0" y="0"/>
                  </a:moveTo>
                  <a:lnTo>
                    <a:pt x="1781846" y="1028700"/>
                  </a:lnTo>
                  <a:lnTo>
                    <a:pt x="1781846" y="1947672"/>
                  </a:lnTo>
                  <a:lnTo>
                    <a:pt x="0" y="918319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7843"/>
                  </a:srgbClr>
                </a:gs>
                <a:gs pos="100000">
                  <a:srgbClr val="FFFFFF">
                    <a:alpha val="27843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1047713" y="3649251"/>
              <a:ext cx="141555" cy="92093"/>
            </a:xfrm>
            <a:custGeom>
              <a:rect b="b" l="l" r="r" t="t"/>
              <a:pathLst>
                <a:path extrusionOk="0" h="920931" w="1415552">
                  <a:moveTo>
                    <a:pt x="0" y="0"/>
                  </a:moveTo>
                  <a:lnTo>
                    <a:pt x="1415552" y="817082"/>
                  </a:lnTo>
                  <a:lnTo>
                    <a:pt x="1415552" y="920931"/>
                  </a:lnTo>
                  <a:lnTo>
                    <a:pt x="0" y="103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1047713" y="3670093"/>
              <a:ext cx="113349" cy="75830"/>
            </a:xfrm>
            <a:custGeom>
              <a:rect b="b" l="l" r="r" t="t"/>
              <a:pathLst>
                <a:path extrusionOk="0" h="758299" w="1133486">
                  <a:moveTo>
                    <a:pt x="0" y="0"/>
                  </a:moveTo>
                  <a:lnTo>
                    <a:pt x="1133486" y="654449"/>
                  </a:lnTo>
                  <a:lnTo>
                    <a:pt x="1133486" y="758299"/>
                  </a:lnTo>
                  <a:lnTo>
                    <a:pt x="0" y="1031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1041008" y="3399143"/>
              <a:ext cx="423686" cy="289473"/>
            </a:xfrm>
            <a:custGeom>
              <a:rect b="b" l="l" r="r" t="t"/>
              <a:pathLst>
                <a:path extrusionOk="0" h="2894729" w="4236862">
                  <a:moveTo>
                    <a:pt x="0" y="0"/>
                  </a:moveTo>
                  <a:lnTo>
                    <a:pt x="4236863" y="2446673"/>
                  </a:lnTo>
                  <a:lnTo>
                    <a:pt x="4236863" y="2894729"/>
                  </a:lnTo>
                  <a:lnTo>
                    <a:pt x="0" y="4487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1069587" y="3429901"/>
              <a:ext cx="17499" cy="26289"/>
            </a:xfrm>
            <a:custGeom>
              <a:rect b="b" l="l" r="r" t="t"/>
              <a:pathLst>
                <a:path extrusionOk="0" h="262890" w="174985">
                  <a:moveTo>
                    <a:pt x="174985" y="182064"/>
                  </a:moveTo>
                  <a:cubicBezTo>
                    <a:pt x="174985" y="249338"/>
                    <a:pt x="135809" y="280688"/>
                    <a:pt x="87493" y="252603"/>
                  </a:cubicBezTo>
                  <a:cubicBezTo>
                    <a:pt x="39176" y="224518"/>
                    <a:pt x="0" y="148101"/>
                    <a:pt x="0" y="80827"/>
                  </a:cubicBezTo>
                  <a:cubicBezTo>
                    <a:pt x="0" y="13553"/>
                    <a:pt x="39176" y="-17798"/>
                    <a:pt x="87493" y="10287"/>
                  </a:cubicBezTo>
                  <a:cubicBezTo>
                    <a:pt x="135809" y="38373"/>
                    <a:pt x="174985" y="115443"/>
                    <a:pt x="174985" y="182064"/>
                  </a:cubicBezTo>
                  <a:close/>
                </a:path>
              </a:pathLst>
            </a:custGeom>
            <a:solidFill>
              <a:srgbClr val="FFFFFF">
                <a:alpha val="28235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946b1c880_0_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Objectius de la sessió</a:t>
            </a:r>
            <a:endParaRPr/>
          </a:p>
        </p:txBody>
      </p:sp>
      <p:sp>
        <p:nvSpPr>
          <p:cNvPr id="172" name="Google Shape;172;g32946b1c880_0_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Comprendre les bases de la programació multimèdia en dispositius mòbils.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Explorar les capacitats multimèdia integrades en Android.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Aprendre a utilitzar llibreries com MediaPlayer, ExoPlayer i CameraX.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Conèixer les millors pràctiques en el desenvolupament d'aplicacions multimèdia mòbils.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2946b1c880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2946b1c880_0_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Què és la programació multimèdia en dispositius mòbils?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2946b1c880_0_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Desenvolupament d'aplicacions capaces de gestionar àudio, vídeo, imatges i càmeres en dispositius mòbils.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Àrees clau: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ca"/>
              <a:t>Reproducció de música i vídeo.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ca"/>
              <a:t>Gravació d'àudio i vídeo.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ca"/>
              <a:t>Edició multimèdia (efectes, filtres).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Importància: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ca"/>
              <a:t>Experiències interactives i immersives.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ca"/>
              <a:t>Aplicacions populars com reproductors multimèdia, xarxes socials i jocs.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2946b1c880_0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pic>
        <p:nvPicPr>
          <p:cNvPr id="181" name="Google Shape;181;g32946b1c880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5800" y="2143827"/>
            <a:ext cx="751825" cy="698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2946b1c880_0_8"/>
          <p:cNvPicPr preferRelativeResize="0"/>
          <p:nvPr/>
        </p:nvPicPr>
        <p:blipFill rotWithShape="1">
          <a:blip r:embed="rId4">
            <a:alphaModFix/>
          </a:blip>
          <a:srcRect b="28212" l="0" r="0" t="23627"/>
          <a:stretch/>
        </p:blipFill>
        <p:spPr>
          <a:xfrm>
            <a:off x="7829850" y="3350525"/>
            <a:ext cx="914100" cy="44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2946b1c880_0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9175" y="4009325"/>
            <a:ext cx="1418449" cy="8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2946b1c880_0_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7975" y="1604400"/>
            <a:ext cx="751825" cy="75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946b1c880_0_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Capacitats multimèdia en Android</a:t>
            </a:r>
            <a:endParaRPr/>
          </a:p>
        </p:txBody>
      </p:sp>
      <p:sp>
        <p:nvSpPr>
          <p:cNvPr id="190" name="Google Shape;190;g32946b1c880_0_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Suport nadiu per a formats populars com MP3, AAC, MP4, AVI, JPEG, PNG.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Llibreries integrades: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MediaPlayer: Per reproduir àudio i vídeo.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ExoPlayer: Reproductor multimèdia avançat, extensible i personalitzable.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CameraX: Llibreria per gestionar càmeres amb facilitat.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Accessibilitat als sensors per sincronitzar multimèdia amb el moviment.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2946b1c880_0_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9483f8a0c_0_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Formats multimèdia suportats per Android</a:t>
            </a:r>
            <a:endParaRPr/>
          </a:p>
        </p:txBody>
      </p:sp>
      <p:sp>
        <p:nvSpPr>
          <p:cNvPr id="197" name="Google Shape;197;g329483f8a0c_0_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Àudio: MP3, AAC, WAV, OGG.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Vídeo: MP4, 3GP, AVI.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Imatges: JPEG, PNG, WEBP.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Avantatges del suport natiu: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ca"/>
              <a:t>Millor rendiment.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ca"/>
              <a:t>Compatibilitat garantida en gairebé tots els dispositius Android.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29483f8a0c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9483f8a0c_0_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Bones pràctiques per treballar amb multimèdia</a:t>
            </a:r>
            <a:endParaRPr/>
          </a:p>
        </p:txBody>
      </p:sp>
      <p:sp>
        <p:nvSpPr>
          <p:cNvPr id="204" name="Google Shape;204;g329483f8a0c_0_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Gestionar recursos adequadament: Alliberar MediaPlayer o ExoPlayer quan no es fa servir.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Formats optimitzats: Reduir el pes dels fitxers multimèdia per millorar el rendiment.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Permisos: Assegurar-se d'obtenir permisos per accedir a àudio, vídeo i càmera.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Provar en múltiples dispositius: Garantir compatibilitat i rendiment.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29483f8a0c_0_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9483f8a0c_0_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Llibreries externes populars</a:t>
            </a:r>
            <a:endParaRPr/>
          </a:p>
        </p:txBody>
      </p:sp>
      <p:sp>
        <p:nvSpPr>
          <p:cNvPr id="211" name="Google Shape;211;g329483f8a0c_0_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Glide i Picasso: Per carregar i gestionar imatges.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FFmpeg: Per a processament multimèdia avançat (conversió de formats, edició).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LibVLC: Reproducció avançada de vídeo i àudio.</a:t>
            </a:r>
            <a:endParaRPr/>
          </a:p>
        </p:txBody>
      </p:sp>
      <p:sp>
        <p:nvSpPr>
          <p:cNvPr id="212" name="Google Shape;212;g329483f8a0c_0_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9483f8a0c_0_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Reptes en el desenvolupament multimèdia</a:t>
            </a:r>
            <a:endParaRPr/>
          </a:p>
        </p:txBody>
      </p:sp>
      <p:sp>
        <p:nvSpPr>
          <p:cNvPr id="218" name="Google Shape;218;g329483f8a0c_0_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Fragmentació de dispositius i versions d’android (com a la resta de sw).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Optimització de rendiment per dispositius de baixes capacitats.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ca"/>
              <a:t>Gestió eficient de la memòria per evitar </a:t>
            </a:r>
            <a:r>
              <a:rPr lang="ca"/>
              <a:t>OutOf</a:t>
            </a:r>
            <a:r>
              <a:rPr lang="ca"/>
              <a:t>MemoryError</a:t>
            </a:r>
            <a:endParaRPr/>
          </a:p>
        </p:txBody>
      </p:sp>
      <p:sp>
        <p:nvSpPr>
          <p:cNvPr id="219" name="Google Shape;219;g329483f8a0c_0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9483f8a0c_0_4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MediaPlayer vs ExoPlayer</a:t>
            </a:r>
            <a:endParaRPr/>
          </a:p>
        </p:txBody>
      </p:sp>
      <p:sp>
        <p:nvSpPr>
          <p:cNvPr id="225" name="Google Shape;225;g329483f8a0c_0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29483f8a0c_0_4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MediaPlayer</a:t>
            </a:r>
            <a:endParaRPr/>
          </a:p>
        </p:txBody>
      </p:sp>
      <p:sp>
        <p:nvSpPr>
          <p:cNvPr id="231" name="Google Shape;231;g329483f8a0c_0_46"/>
          <p:cNvSpPr txBox="1"/>
          <p:nvPr>
            <p:ph idx="1" type="body"/>
          </p:nvPr>
        </p:nvSpPr>
        <p:spPr>
          <a:xfrm>
            <a:off x="1297500" y="10720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</a:t>
            </a:r>
            <a:r>
              <a:rPr lang="ca"/>
              <a:t>PI nativa d'Android utilitzada per reproduir àudio i vídeo. Ha estat disponible des de les primeres versions d'Android.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29483f8a0c_0_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graphicFrame>
        <p:nvGraphicFramePr>
          <p:cNvPr id="233" name="Google Shape;233;g329483f8a0c_0_46"/>
          <p:cNvGraphicFramePr/>
          <p:nvPr/>
        </p:nvGraphicFramePr>
        <p:xfrm>
          <a:off x="952500" y="172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{488ED5D5-80C0-485C-92B8-64F319B529E4}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chemeClr val="lt1"/>
                          </a:solidFill>
                        </a:rPr>
                        <a:t>Avantatges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chemeClr val="lt1"/>
                          </a:solidFill>
                        </a:rPr>
                        <a:t>Limitacions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API senzilla i fàcil d'utilitzar.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està optimitzat per a transmissions (streaming) adaptatives.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Ideal per a reproducció bàsica de fitxers locals.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Menys flexible per integrar funcionalitats avançades (subtítols personalitzats, analítica, etc.).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Suport integrat per a formats multimèdia comuns.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Gestió limitada de codecs personalitzats.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Control bàsic sobre la reproducció (play, pause, seek, stop).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té suport actiu, ja que es considera una API més antiga.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9483f8a0c_0_6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ExoPlayer</a:t>
            </a:r>
            <a:endParaRPr/>
          </a:p>
        </p:txBody>
      </p:sp>
      <p:sp>
        <p:nvSpPr>
          <p:cNvPr id="239" name="Google Shape;239;g329483f8a0c_0_61"/>
          <p:cNvSpPr txBox="1"/>
          <p:nvPr>
            <p:ph idx="1" type="body"/>
          </p:nvPr>
        </p:nvSpPr>
        <p:spPr>
          <a:xfrm>
            <a:off x="1297500" y="10720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És una llibreria de reproducció multimèdia desenvolupada per Google, dissenyada per a aplicacions modernes.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29483f8a0c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graphicFrame>
        <p:nvGraphicFramePr>
          <p:cNvPr id="241" name="Google Shape;241;g329483f8a0c_0_61"/>
          <p:cNvGraphicFramePr/>
          <p:nvPr/>
        </p:nvGraphicFramePr>
        <p:xfrm>
          <a:off x="952500" y="172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{488ED5D5-80C0-485C-92B8-64F319B529E4}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chemeClr val="lt1"/>
                          </a:solidFill>
                        </a:rPr>
                        <a:t>Avantatges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chemeClr val="lt1"/>
                          </a:solidFill>
                        </a:rPr>
                        <a:t>Limitacions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Suport avançat per a streaming adaptatiu (DASH, HLS, SmoothStreaming).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Més complex d'implementar en comparació amb MediaPlayer.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Flexible i extensible: permet personalitzar controls, codecs i fonts de dades.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Pot ser excessiu per aplicacions amb necessitats multimèdia simples.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Compatible amb fitxers locals i remots.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Suport per a subtítols personalitzats i pistes d'àudio alternatives.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Suport constant i actualitzacions freqüents.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29483f8a0c_0_7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Comparativa</a:t>
            </a:r>
            <a:endParaRPr/>
          </a:p>
        </p:txBody>
      </p:sp>
      <p:sp>
        <p:nvSpPr>
          <p:cNvPr id="247" name="Google Shape;247;g329483f8a0c_0_73"/>
          <p:cNvSpPr txBox="1"/>
          <p:nvPr>
            <p:ph idx="1" type="body"/>
          </p:nvPr>
        </p:nvSpPr>
        <p:spPr>
          <a:xfrm>
            <a:off x="1297500" y="10720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29483f8a0c_0_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graphicFrame>
        <p:nvGraphicFramePr>
          <p:cNvPr id="249" name="Google Shape;249;g329483f8a0c_0_73"/>
          <p:cNvGraphicFramePr/>
          <p:nvPr/>
        </p:nvGraphicFramePr>
        <p:xfrm>
          <a:off x="952500" y="187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{488ED5D5-80C0-485C-92B8-64F319B529E4}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chemeClr val="lt1"/>
                          </a:solidFill>
                        </a:rPr>
                        <a:t>MediaPlayer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ca">
                          <a:solidFill>
                            <a:schemeClr val="lt1"/>
                          </a:solidFill>
                        </a:rPr>
                        <a:t>ExoPlayer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43434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Fàcil d’implementar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Més complexe però flexible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No compatible amb Streaming adaptatiu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Compatible amb DASH, HLS…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Limitat a formats Android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Permet ús de codecs custom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Suport Limitat de subtítols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Suport avançat i personalitzable de subtítols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>
                          <a:solidFill>
                            <a:schemeClr val="lt1"/>
                          </a:solidFill>
                        </a:rPr>
                        <a:t>Poc maneniment 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ca" sz="1300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Manteniment actiu de Google</a:t>
                      </a:r>
                      <a:endParaRPr sz="1300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6666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29483f8a0c_0_10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Implementació amb MediaPlayer (local audio)</a:t>
            </a:r>
            <a:endParaRPr/>
          </a:p>
        </p:txBody>
      </p:sp>
      <p:sp>
        <p:nvSpPr>
          <p:cNvPr id="255" name="Google Shape;255;g329483f8a0c_0_10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29483f8a0c_0_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pic>
        <p:nvPicPr>
          <p:cNvPr id="257" name="Google Shape;257;g329483f8a0c_0_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706" y="1143148"/>
            <a:ext cx="5454492" cy="333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29483f8a0c_0_11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Implementació amb ExoPlayer (remote)</a:t>
            </a:r>
            <a:endParaRPr/>
          </a:p>
        </p:txBody>
      </p:sp>
      <p:sp>
        <p:nvSpPr>
          <p:cNvPr id="263" name="Google Shape;263;g329483f8a0c_0_11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29483f8a0c_0_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  <p:pic>
        <p:nvPicPr>
          <p:cNvPr id="265" name="Google Shape;265;g329483f8a0c_0_110"/>
          <p:cNvPicPr preferRelativeResize="0"/>
          <p:nvPr/>
        </p:nvPicPr>
        <p:blipFill rotWithShape="1">
          <a:blip r:embed="rId3">
            <a:alphaModFix/>
          </a:blip>
          <a:srcRect b="58256" l="0" r="0" t="0"/>
          <a:stretch/>
        </p:blipFill>
        <p:spPr>
          <a:xfrm>
            <a:off x="1833575" y="2000250"/>
            <a:ext cx="5476875" cy="47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g329483f8a0c_0_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4588" y="2687900"/>
            <a:ext cx="4224300" cy="219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29483f8a0c_0_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850" y="3024850"/>
            <a:ext cx="3314700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36e2de1390_1_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Excercici: Asincron Sounds!</a:t>
            </a:r>
            <a:endParaRPr/>
          </a:p>
        </p:txBody>
      </p:sp>
      <p:sp>
        <p:nvSpPr>
          <p:cNvPr id="273" name="Google Shape;273;g336e2de1390_1_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Establiu un programa que tingui diversos botons per diversos audios, el fet de prèmer un botó implica que, </a:t>
            </a:r>
            <a:r>
              <a:rPr lang="ca"/>
              <a:t>asíncronament</a:t>
            </a:r>
            <a:r>
              <a:rPr lang="ca"/>
              <a:t>, es reprodueix l’audio i a més es fa un debug, de forma que es poden reproduïr diversos audios a la vegada.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36e2de1390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